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6202B"/>
                </a:solidFill>
                <a:latin typeface="Aptos"/>
              </a:rPr>
              <a:t>B-BOT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27632"/>
            <a:ext cx="8412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205BA7"/>
                </a:solidFill>
                <a:latin typeface="Aptos"/>
              </a:rPr>
              <a:t>An Embedded Real-Time Control System</a:t>
            </a:r>
            <a:br/>
            <a:r>
              <a:t>for a WiFi-Enabled Wheel-Legged Balancing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064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616E"/>
                </a:solidFill>
                <a:latin typeface="Aptos"/>
              </a:rPr>
              <a:t>Botao Su | Embedded Systems Individual Project | University of Manchester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515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36992" y="1188719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Core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6992" y="1572767"/>
            <a:ext cx="3063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Robot is the validation platform.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Core work is the ESP32 embedded system.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Real-time control, I/O, communication and safety are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Embedded Systems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A resource-constrained ESP32 must control an unstable platform while handling I/O and communication.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Real-Time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2140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Changing leg length changes the balance dynamics.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Pitch, wheel torque and leg geometry are coupled.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The 4 ms control loop must remain local.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737360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Embedded I/O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12140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IMU, CAN motors, battery, BLE, UART and WiFi.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FreeRTOS tasks share limited timing margin.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Logging and communication must not destabilise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37360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Design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2140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ESP32 owns the stabilising loop.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Remote inputs are target requests.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Watchdogs and arbitration enforce safe behaviour.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The evaluation is framed around embedded control, interfaces and safety.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O1 Embedded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LQR/PID/VMC balance control.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ESP32 real-time loop and task timing.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Static stability and disturbance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020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O2 Command Interfaces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84248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ROS 2 camera and MediaPipe bridge.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WiFi TCP command-entry path.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Measured supervisory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0020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O3 Safe Arbitration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84248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BLE, UART, TCP and vision command sources.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Watchdog stop behaviour.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Conflict suppression and dry-run/stunt gates.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Embedded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Time-critical firmware is separated from host-side supervisory command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1089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54480"/>
            <a:ext cx="2779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Host PC / ROS 2 / MediaPipe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47672"/>
            <a:ext cx="2788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17320"/>
            <a:ext cx="31089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554480"/>
            <a:ext cx="2779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Xbox BLE / UART / WiFi TCP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947672"/>
            <a:ext cx="2788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743200"/>
            <a:ext cx="4206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880360"/>
            <a:ext cx="38770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ESP32 Embedded Firmware</a:t>
            </a:r>
            <a:br/>
            <a:r>
              <a:t>FreeRTOS tasks, parser, watchdogs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273552"/>
            <a:ext cx="388620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160520"/>
            <a:ext cx="4206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4297680"/>
            <a:ext cx="38770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F8552"/>
                </a:solidFill>
                <a:latin typeface="Aptos"/>
              </a:rPr>
              <a:t>Local Balance Control</a:t>
            </a:r>
            <a:br/>
            <a:r>
              <a:t>IMU + motor feedback, LQR/PID/VMC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4690872"/>
            <a:ext cx="388620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486400"/>
            <a:ext cx="4206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5623560"/>
            <a:ext cx="38770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5616E"/>
                </a:solidFill>
                <a:latin typeface="Aptos"/>
              </a:rPr>
              <a:t>Physical Robot</a:t>
            </a:r>
            <a:br/>
            <a:r>
              <a:t>wheels, legs, CAN motors, battery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6016752"/>
            <a:ext cx="388620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2148840"/>
            <a:ext cx="1463040" cy="59436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486400" y="2148840"/>
            <a:ext cx="640080" cy="59436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3611880"/>
            <a:ext cx="0" cy="54864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0" y="5029200"/>
            <a:ext cx="0" cy="45720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63840" y="2788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202B"/>
                </a:solidFill>
                <a:latin typeface="Aptos"/>
              </a:defRPr>
            </a:pPr>
            <a:r>
              <a:t>Remote layers update targets, not stabilising feedback.</a:t>
            </a:r>
          </a:p>
          <a:p>
            <a:pPr>
              <a:spcAft>
                <a:spcPts val="700"/>
              </a:spcAft>
              <a:defRPr sz="1600">
                <a:solidFill>
                  <a:srgbClr val="16202B"/>
                </a:solidFill>
                <a:latin typeface="Aptos"/>
              </a:defRPr>
            </a:pPr>
            <a:r>
              <a:t>The embedded system owns sensing, motor feedback and safety stops.</a:t>
            </a:r>
          </a:p>
          <a:p>
            <a:pPr>
              <a:spcAft>
                <a:spcPts val="700"/>
              </a:spcAft>
              <a:defRPr sz="1600">
                <a:solidFill>
                  <a:srgbClr val="16202B"/>
                </a:solidFill>
                <a:latin typeface="Aptos"/>
              </a:defRPr>
            </a:pPr>
            <a:r>
              <a:t>Command loss or conflict is handled before it can become persistent motion.</a:t>
            </a:r>
          </a:p>
          <a:p>
            <a:pPr>
              <a:spcAft>
                <a:spcPts val="700"/>
              </a:spcAft>
              <a:defRPr sz="1600">
                <a:solidFill>
                  <a:srgbClr val="16202B"/>
                </a:solidFill>
                <a:latin typeface="Aptos"/>
              </a:defRPr>
            </a:pPr>
            <a:r>
              <a:t>This boundary is tested by E5, E6, E8, E10, E11 and O3-S.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Embedded Hardware and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A lightweight ESP32 stack integrating sensing, CAN motor I/O, wireless interfaces and safety logic.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CB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3848"/>
            <a:ext cx="4754880" cy="39360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4754880" cy="4389120"/>
          </a:xfrm>
          <a:prstGeom prst="rect">
            <a:avLst/>
          </a:prstGeom>
          <a:noFill/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06440" y="1463040"/>
            <a:ext cx="53035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71031" y="1600200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Embedded Implementation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1031" y="1984248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Custom ESP32 controller PCB and wheel-legged platform.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MPU6050 attitude feedback and CAN-connected motors.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FreeRTOS tasks for CAN, IMU, motor output, balance, BLE, UART and WiFi.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Public software evidence snapshot: Realsbt/Y3-PROJECT.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Embedded Control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The controller is designed to be interpretable and feasible on the ESP32.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1819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State Estimate</a:t>
            </a:r>
            <a:br/>
            <a:r>
              <a:t>pitch, pitch rate,</a:t>
            </a:r>
            <a:br/>
            <a:r>
              <a:t>wheel speed, leg 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59152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965960"/>
            <a:ext cx="1819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Gain-Scheduled LQR</a:t>
            </a:r>
            <a:br/>
            <a:r>
              <a:t>sagittal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359152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8288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965960"/>
            <a:ext cx="1819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PID Loops</a:t>
            </a:r>
            <a:br/>
            <a:r>
              <a:t>yaw, roll, leg 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359152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965960"/>
            <a:ext cx="1819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F8552"/>
                </a:solidFill>
                <a:latin typeface="Aptos"/>
              </a:rPr>
              <a:t>VMC Mapping</a:t>
            </a:r>
            <a:br/>
            <a:r>
              <a:t>virtual leg forces</a:t>
            </a:r>
            <a:br/>
            <a:r>
              <a:t>to joint torques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359152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3434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4480560"/>
            <a:ext cx="1819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Motor Commands</a:t>
            </a:r>
            <a:br/>
            <a:r>
              <a:t>wheels + joints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873752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6202B"/>
                </a:solidFill>
                <a:latin typeface="Apto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80360" y="2423160"/>
            <a:ext cx="411480" cy="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40680" y="2423160"/>
            <a:ext cx="411480" cy="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01000" y="2423160"/>
            <a:ext cx="411480" cy="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623560" y="3017520"/>
            <a:ext cx="3840480" cy="132588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8920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6202B"/>
                </a:solidFill>
                <a:latin typeface="Aptos"/>
              </a:defRPr>
            </a:pPr>
            <a:r>
              <a:t>Chosen for ESP32 feasibility and interpretable control structure.</a:t>
            </a:r>
          </a:p>
          <a:p>
            <a:pPr>
              <a:spcAft>
                <a:spcPts val="700"/>
              </a:spcAft>
              <a:defRPr sz="1500">
                <a:solidFill>
                  <a:srgbClr val="16202B"/>
                </a:solidFill>
                <a:latin typeface="Aptos"/>
              </a:defRPr>
            </a:pPr>
            <a:r>
              <a:t>E3 and E9 test whether leg-length-dependent behaviour matters.</a:t>
            </a:r>
          </a:p>
          <a:p>
            <a:pPr>
              <a:spcAft>
                <a:spcPts val="700"/>
              </a:spcAft>
              <a:defRPr sz="1500">
                <a:solidFill>
                  <a:srgbClr val="16202B"/>
                </a:solidFill>
                <a:latin typeface="Aptos"/>
              </a:defRPr>
            </a:pPr>
            <a:r>
              <a:t>Ablation is used to justify complexity rather than just describe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Embedded Command and Safety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Multiple interfaces are allowed, but persistent unsafe motion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54480"/>
            <a:ext cx="1911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Command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38528"/>
            <a:ext cx="1920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Xbox BLE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UART queue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WiFi TCP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ROS 2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554480"/>
            <a:ext cx="21396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Parser +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38528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Shared command grammar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Queue start/pause/stop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Direct DRIVE/YAWRATE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54480"/>
            <a:ext cx="20025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Safety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38528"/>
            <a:ext cx="201167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Watchdogs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BLE disable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dry_run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stunt_armed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17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554480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F8552"/>
                </a:solidFill>
                <a:latin typeface="Aptos"/>
              </a:rPr>
              <a:t>Robot Targets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1938528"/>
            <a:ext cx="1691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speed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yaw rate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leg action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stop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2103120"/>
            <a:ext cx="502920" cy="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97880" y="2103120"/>
            <a:ext cx="502920" cy="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32520" y="2103120"/>
            <a:ext cx="502920" cy="0"/>
          </a:xfrm>
          <a:prstGeom prst="line">
            <a:avLst/>
          </a:prstGeom>
          <a:ln w="19050">
            <a:solidFill>
              <a:srgbClr val="55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3703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6202B"/>
                </a:solidFill>
                <a:latin typeface="Aptos"/>
              </a:defRPr>
            </a:pPr>
            <a:r>
              <a:t>Direct commands expire if not refreshed.</a:t>
            </a:r>
          </a:p>
          <a:p>
            <a:pPr>
              <a:spcAft>
                <a:spcPts val="700"/>
              </a:spcAft>
              <a:defRPr sz="1800">
                <a:solidFill>
                  <a:srgbClr val="16202B"/>
                </a:solidFill>
                <a:latin typeface="Aptos"/>
              </a:defRPr>
            </a:pPr>
            <a:r>
              <a:t>Queue execution suppresses conflicting direct drive input.</a:t>
            </a:r>
          </a:p>
          <a:p>
            <a:pPr>
              <a:spcAft>
                <a:spcPts val="700"/>
              </a:spcAft>
              <a:defRPr sz="1800">
                <a:solidFill>
                  <a:srgbClr val="16202B"/>
                </a:solidFill>
                <a:latin typeface="Aptos"/>
              </a:defRPr>
            </a:pPr>
            <a:r>
              <a:t>Vision can be previewed in dry-run before real transmission.</a:t>
            </a:r>
          </a:p>
          <a:p>
            <a:pPr>
              <a:spcAft>
                <a:spcPts val="700"/>
              </a:spcAft>
              <a:defRPr sz="1800">
                <a:solidFill>
                  <a:srgbClr val="16202B"/>
                </a:solidFill>
                <a:latin typeface="Aptos"/>
              </a:defRPr>
            </a:pPr>
            <a:r>
              <a:t>O3-S verifies BLE/PC and queue/direct-command arbitration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Evaluation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Measured evidence for embedded timing, physical control, interfaces and safety.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O1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0632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E1 static balance: 0.291 deg pitch RMS.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E2 recovery: 9/10 forward, 10/10 backward.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E8 loop timing: mean 3.9998 ms, median 4.000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E9 controller ablation: FULL vs reduced variants.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020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O2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84248"/>
            <a:ext cx="30632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E5 TCP ACK median 37.41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E7 camera bring-up.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E10 live gesture matrix and retained failures.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E11 bridge ACK median 66.13 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60020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O3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984248"/>
            <a:ext cx="30632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E6 watchdog and disconnect fault injection.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dry_run and stunt gate behaviour.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O3-S: 5/5 BLE gate and 5/5 queue/direct suppression.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Not claimed as exhaustive over every race condition.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O1 Results: Static Balance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Physical results support usable balance while exposing limits.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_static_balance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5120640" cy="2560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417320"/>
            <a:ext cx="5120640" cy="3474720"/>
          </a:xfrm>
          <a:prstGeom prst="rect">
            <a:avLst/>
          </a:prstGeom>
          <a:noFill/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2_disturbance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22827"/>
            <a:ext cx="5303520" cy="32637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80760" y="1417320"/>
            <a:ext cx="5303520" cy="3474720"/>
          </a:xfrm>
          <a:prstGeom prst="rect">
            <a:avLst/>
          </a:prstGeom>
          <a:noFill/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6202B"/>
                </a:solidFill>
                <a:latin typeface="Aptos"/>
              </a:defRPr>
            </a:pPr>
            <a:r>
              <a:t>Static balance: 0.291 deg pitch RMS over three 60 s trials.</a:t>
            </a:r>
          </a:p>
          <a:p>
            <a:pPr>
              <a:spcAft>
                <a:spcPts val="700"/>
              </a:spcAft>
              <a:defRPr sz="1500">
                <a:solidFill>
                  <a:srgbClr val="16202B"/>
                </a:solidFill>
                <a:latin typeface="Aptos"/>
              </a:defRPr>
            </a:pPr>
            <a:r>
              <a:t>Impulse recovery: 9/10 forward and 10/10 backward trials.</a:t>
            </a:r>
          </a:p>
          <a:p>
            <a:pPr>
              <a:spcAft>
                <a:spcPts val="700"/>
              </a:spcAft>
              <a:defRPr sz="1500">
                <a:solidFill>
                  <a:srgbClr val="16202B"/>
                </a:solidFill>
                <a:latin typeface="Aptos"/>
              </a:defRPr>
            </a:pPr>
            <a:r>
              <a:t>The failed/protected forward case is retained as evidence of a real tuning/saturation limit.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O1 Timing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The local loop is centred on 4 ms, but timing outliers are real.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8_loop_jitter_15000_2026-04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1325880"/>
            <a:ext cx="5791200" cy="4343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325880"/>
            <a:ext cx="5852160" cy="4343400"/>
          </a:xfrm>
          <a:prstGeom prst="rect">
            <a:avLst/>
          </a:prstGeom>
          <a:noFill/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03720" y="1600200"/>
            <a:ext cx="4023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68312" y="1737360"/>
            <a:ext cx="36941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Measured E8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8312" y="2121408"/>
            <a:ext cx="3703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15,000 samples.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Mean period: 3.9998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Median period: 4.000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p95: 4.300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Maximum observed period: 53.365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Conclusion: WiFi/vision must remain outside the stabilising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O1 Baseline: Controller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E9 tests whether added control complexity is justified.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9_controller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3191"/>
            <a:ext cx="5852160" cy="32287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234440"/>
            <a:ext cx="5852160" cy="4526280"/>
          </a:xfrm>
          <a:prstGeom prst="rect">
            <a:avLst/>
          </a:prstGeom>
          <a:noFill/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0" y="1463040"/>
            <a:ext cx="43434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22592" y="1600200"/>
            <a:ext cx="4014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FULL vs FIXED_LQR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2592" y="1984248"/>
            <a:ext cx="4023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FULL: 10/10 recovered.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FIXED_LQR: 9/10 recovered, one protected/failed trial.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Response metric: 1.049 s to 0.826 s, 21.3% reduction.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Peak pitch: 9.85 deg to 8.09 deg, 17.9% reduction.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Interpretation: engineering ablation evidence, not proof of global optimality.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O2 Results: WiFi and Vision Teleoperation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Communication and vision are responsive enough for supervisory commands.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0_vision_confusion_live_2026-04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42526"/>
            <a:ext cx="5212080" cy="19900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325880"/>
            <a:ext cx="5212080" cy="4023360"/>
          </a:xfrm>
          <a:prstGeom prst="rect">
            <a:avLst/>
          </a:prstGeom>
          <a:noFill/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11_vision_bridge_ack_latency_2026-04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81390"/>
            <a:ext cx="5166360" cy="27123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63640" y="1325880"/>
            <a:ext cx="5166360" cy="4023360"/>
          </a:xfrm>
          <a:prstGeom prst="rect">
            <a:avLst/>
          </a:prstGeom>
          <a:noFill/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TCP command-entry ACK: median 37.41 ms, p95 88.31 ms across 300 samples.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Vision live matrix: clean 6/6 command classes; 85.3% selected-frame label accuracy.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Vision bridge-to-ESP32 ACK: median 66.13 ms across 71 safe commands.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O3 Results: Safety and Arbitration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Safety behaviour is measured on the main command paths.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6_watchdog_fault_in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566928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325880"/>
            <a:ext cx="5669280" cy="4389120"/>
          </a:xfrm>
          <a:prstGeom prst="rect">
            <a:avLst/>
          </a:prstGeom>
          <a:noFill/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20840" y="1508760"/>
            <a:ext cx="43891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1" y="1645919"/>
            <a:ext cx="40599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Measured Safety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1" y="2029967"/>
            <a:ext cx="4069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Direct command watchdog cleared commands in 10/10 trials.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TCP socket close detected in 10/10 trials.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TCP idle produced full-stop in 10/10 trials.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O3-S: BLE/PC gate 5/5 and queue/direct suppression 5/5.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Scope is tested main paths, not every possible race condition.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Live 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Keep the demo conservative: show architecture, not maximum aggression.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2871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Demo A: Local 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28803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Robot already powered and calibrated.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Show stable balance briefly.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Small Xbox or keyboard command.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Return to zero motion.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554480"/>
            <a:ext cx="2871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Demo B: Supervisory 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938528"/>
            <a:ext cx="28803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Show terminal command path.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Explain DRIVE/YAWRATE as targets.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Show watchdog or stop behaviour conservatively.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554480"/>
            <a:ext cx="2871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Demo C: Vision Dry-Run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938528"/>
            <a:ext cx="28803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Run vision bridge in dry_run=true.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Show gesture classified into command.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No real robot motion unless already rehearsed.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The embedded-system boundaries are explicit.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46085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94038"/>
                </a:solidFill>
                <a:latin typeface="Aptos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6177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Manual gain tuning and manually applied disturbances.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Small-sample physical trials.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IMU vibration, mechanical compliance and actuator saturation.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Measured timing tail outliers under shared workload.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WiFi/vision latency prevents use as balance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49377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00200"/>
            <a:ext cx="46085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F8552"/>
                </a:solidFill>
                <a:latin typeface="Aptos"/>
              </a:rPr>
              <a:t>Next Technical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84248"/>
            <a:ext cx="46177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Better logging, event markers and parameter versioning.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Repeatable gain sweeps and larger E2/E9 datasets.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Improved state estimation and vibration isolation.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Onboard companion computer for ROS 2 vision, while ESP32 still owns balance.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B-BOT demonstrates a practical ESP32 embedded control system on a challenging physical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332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54480"/>
            <a:ext cx="100035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Main Embedded Systems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100126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ESP32 owns the balance-critical feedback loop.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Firmware integrates IMU, CAN motors, FreeRTOS tasks, BLE, UART and WiFi.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LQR/PID/VMC control is implemented and physically evaluated.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WiFi, Xbox and ROS 2 vision are integrated as supervisory command sources.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Watchdogs, dry-run, stunt gates and command arbitration are measured.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The final system is not perfect, but its evidence chain is objective and traceable.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580644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05BA7"/>
                </a:solidFill>
                <a:latin typeface="Aptos"/>
              </a:rPr>
              <a:t>Thank you. I am happy to answer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02B"/>
                </a:solidFill>
                <a:latin typeface="Aptos"/>
              </a:rPr>
              <a:t>Backup: Key Numbers for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616E"/>
                </a:solidFill>
                <a:latin typeface="Aptos"/>
              </a:rPr>
              <a:t>Use this slide only if asked for evidence details.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828800" cy="36576"/>
          </a:xfrm>
          <a:prstGeom prst="rect">
            <a:avLst/>
          </a:prstGeom>
          <a:solidFill>
            <a:srgbClr val="008282"/>
          </a:solidFill>
          <a:ln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05BA7"/>
                </a:solidFill>
                <a:latin typeface="Aptos"/>
              </a:rPr>
              <a:t>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30632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E1 pitch RMS: 0.291 deg.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E2 recovery: 9/10 forward, 10/10 backward.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E8 mean/median: 3.9998 ms / 4.000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E8 max outlier: 53.365 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8282"/>
                </a:solidFill>
                <a:latin typeface="Aptos"/>
              </a:rPr>
              <a:t>Control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38528"/>
            <a:ext cx="30632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E9 FULL: 10/10.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E9 FIXED_LQR: 9/10.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Response metric: 21.3% lower.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Peak pitch: 17.9% lower.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54480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16F1F"/>
                </a:solidFill>
                <a:latin typeface="Aptos"/>
              </a:rPr>
              <a:t>Teleoperation +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0632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E5 TCP median/p95: 37.41 / 88.31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E11 ACK median: 66.13 ms.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E10 selected-frame accuracy: 85.3%.</a:t>
            </a:r>
          </a:p>
          <a:p>
            <a:pPr>
              <a:spcAft>
                <a:spcPts val="700"/>
              </a:spcAft>
              <a:defRPr sz="1300">
                <a:solidFill>
                  <a:srgbClr val="16202B"/>
                </a:solidFill>
                <a:latin typeface="Aptos"/>
              </a:defRPr>
            </a:pPr>
            <a:r>
              <a:t>E6 and O3-S main safety tests passed.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46520"/>
            <a:ext cx="1600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16E"/>
                </a:solidFill>
                <a:latin typeface="Aptos"/>
              </a:rPr>
              <a:t>B-BOT Final Presentation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