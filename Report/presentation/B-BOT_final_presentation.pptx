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7724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16202B"/>
                </a:solidFill>
                <a:latin typeface="Aptos"/>
              </a:rPr>
              <a:t>B-BOT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27632"/>
            <a:ext cx="80467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205BA7"/>
                </a:solidFill>
                <a:latin typeface="Aptos"/>
              </a:rPr>
              <a:t>A WiFi-Enabled Self-Balancing Wheel-Legged Robot</a:t>
            </a:r>
            <a:br/>
            <a:r>
              <a:t>with ROS 2 Vision Teleoperation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0644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5616E"/>
                </a:solidFill>
                <a:latin typeface="Aptos"/>
              </a:rPr>
              <a:t>Botao Su | Third Year Individual Project | University of Manchester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051560"/>
            <a:ext cx="338328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36992" y="1188719"/>
            <a:ext cx="30540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08282"/>
                </a:solidFill>
                <a:latin typeface="Aptos"/>
              </a:rPr>
              <a:t>Core 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6992" y="1572767"/>
            <a:ext cx="30632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Balance-critical feedback stays on the ESP32.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WiFi, Xbox and ROS 2 vision send supervisory targets only.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Safety arbitration is measured, not assumed.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446520"/>
            <a:ext cx="1600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5616E"/>
                </a:solidFill>
                <a:latin typeface="Aptos"/>
              </a:rPr>
              <a:t>B-BOT Final Presentation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202B"/>
                </a:solidFill>
                <a:latin typeface="Aptos"/>
              </a:rPr>
              <a:t>Project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5616E"/>
                </a:solidFill>
                <a:latin typeface="Aptos"/>
              </a:rPr>
              <a:t>An unstable robot should not depend on non-deterministic communication for balance.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6576"/>
          </a:xfrm>
          <a:prstGeom prst="rect">
            <a:avLst/>
          </a:prstGeom>
          <a:solidFill>
            <a:srgbClr val="008282"/>
          </a:solidFill>
          <a:ln>
            <a:solidFill>
              <a:srgbClr val="0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29184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37360"/>
            <a:ext cx="29626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05BA7"/>
                </a:solidFill>
                <a:latin typeface="Aptos"/>
              </a:rPr>
              <a:t>Wheel-Legged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2971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Changing leg length changes the balance dynamics.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Pitch, wheel torque and leg geometry are coupled.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A fixed simple controller is fragile across configurations.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600200"/>
            <a:ext cx="329184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1" y="1737360"/>
            <a:ext cx="29626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16F1F"/>
                </a:solidFill>
                <a:latin typeface="Aptos"/>
              </a:rPr>
              <a:t>Teleoperation 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1" y="2121408"/>
            <a:ext cx="2971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WiFi and vision have variable latency.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Human input sources can conflict.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Unsafe stale commands must be cleared predictably.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00200"/>
            <a:ext cx="329184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737360"/>
            <a:ext cx="29626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08282"/>
                </a:solidFill>
                <a:latin typeface="Aptos"/>
              </a:rPr>
              <a:t>Design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2121408"/>
            <a:ext cx="2971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ESP32 owns the stabilising loop.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Remote inputs are target requests.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Watchdogs and arbitration enforce safe behaviour.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46520"/>
            <a:ext cx="1600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5616E"/>
                </a:solidFill>
                <a:latin typeface="Aptos"/>
              </a:rPr>
              <a:t>B-BOT Final Presentation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202B"/>
                </a:solidFill>
                <a:latin typeface="Aptos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5616E"/>
                </a:solidFill>
                <a:latin typeface="Aptos"/>
              </a:rPr>
              <a:t>The report and evaluation are organised around three testable objectives.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6576"/>
          </a:xfrm>
          <a:prstGeom prst="rect">
            <a:avLst/>
          </a:prstGeom>
          <a:solidFill>
            <a:srgbClr val="008282"/>
          </a:solidFill>
          <a:ln>
            <a:solidFill>
              <a:srgbClr val="0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00200"/>
            <a:ext cx="30540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05BA7"/>
                </a:solidFill>
                <a:latin typeface="Aptos"/>
              </a:rPr>
              <a:t>O1 Embedded Balance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984248"/>
            <a:ext cx="30632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LQR/PID/VMC balance control.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Static stability and disturbance recovery.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4 ms local control-loop timing.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600200"/>
            <a:ext cx="30540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08282"/>
                </a:solidFill>
                <a:latin typeface="Aptos"/>
              </a:rPr>
              <a:t>O2 Vision + WiFi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1984248"/>
            <a:ext cx="30632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ROS 2 camera and MediaPipe bridge.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WiFi TCP command-entry path.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Measured supervisory latency.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1600200"/>
            <a:ext cx="30540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16F1F"/>
                </a:solidFill>
                <a:latin typeface="Aptos"/>
              </a:rPr>
              <a:t>O3 Safe Arbitration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1312" y="1984248"/>
            <a:ext cx="30632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BLE, UART, TCP and vision command sources.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Watchdog stop behaviour.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Conflict suppression and dry-run/stunt gates.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46520"/>
            <a:ext cx="1600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5616E"/>
                </a:solidFill>
                <a:latin typeface="Aptos"/>
              </a:rPr>
              <a:t>B-BOT Final Presentation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202B"/>
                </a:solidFill>
                <a:latin typeface="Aptos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5616E"/>
                </a:solidFill>
                <a:latin typeface="Aptos"/>
              </a:rPr>
              <a:t>Time-critical balance is separated from supervisory command generation.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6576"/>
          </a:xfrm>
          <a:prstGeom prst="rect">
            <a:avLst/>
          </a:prstGeom>
          <a:solidFill>
            <a:srgbClr val="008282"/>
          </a:solidFill>
          <a:ln>
            <a:solidFill>
              <a:srgbClr val="0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310896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554480"/>
            <a:ext cx="277977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08282"/>
                </a:solidFill>
                <a:latin typeface="Aptos"/>
              </a:rPr>
              <a:t>Host PC / ROS 2 / MediaPipe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1947672"/>
            <a:ext cx="278892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6202B"/>
                </a:solidFill>
                <a:latin typeface="Aptos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417320"/>
            <a:ext cx="310896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36592" y="1554480"/>
            <a:ext cx="277977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16F1F"/>
                </a:solidFill>
                <a:latin typeface="Aptos"/>
              </a:rPr>
              <a:t>Xbox BLE / UART / WiFi TCP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36592" y="1947672"/>
            <a:ext cx="278892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6202B"/>
                </a:solidFill>
                <a:latin typeface="Aptos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2743200"/>
            <a:ext cx="42062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880360"/>
            <a:ext cx="387705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05BA7"/>
                </a:solidFill>
                <a:latin typeface="Aptos"/>
              </a:rPr>
              <a:t>ESP32 Firmware</a:t>
            </a:r>
            <a:br/>
            <a:r>
              <a:t>FreeRTOS tasks, parser, watchdogs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3273552"/>
            <a:ext cx="3886200" cy="2743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6202B"/>
                </a:solidFill>
                <a:latin typeface="Aptos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26080" y="4160520"/>
            <a:ext cx="42062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90672" y="4297680"/>
            <a:ext cx="387705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3F8552"/>
                </a:solidFill>
                <a:latin typeface="Aptos"/>
              </a:rPr>
              <a:t>Local Balance Control</a:t>
            </a:r>
            <a:br/>
            <a:r>
              <a:t>IMU + motor feedback, LQR/PID/VMC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90672" y="4690872"/>
            <a:ext cx="3886200" cy="2743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6202B"/>
                </a:solidFill>
                <a:latin typeface="Aptos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5486400"/>
            <a:ext cx="42062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90672" y="5623560"/>
            <a:ext cx="387705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55616E"/>
                </a:solidFill>
                <a:latin typeface="Aptos"/>
              </a:rPr>
              <a:t>Physical Robot</a:t>
            </a:r>
            <a:br/>
            <a:r>
              <a:t>wheels, legs, CAN motors, battery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90672" y="6016752"/>
            <a:ext cx="3886200" cy="91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6202B"/>
                </a:solidFill>
                <a:latin typeface="Apto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377440" y="2148840"/>
            <a:ext cx="1463040" cy="594360"/>
          </a:xfrm>
          <a:prstGeom prst="line">
            <a:avLst/>
          </a:prstGeom>
          <a:ln w="19050">
            <a:solidFill>
              <a:srgbClr val="5561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486400" y="2148840"/>
            <a:ext cx="640080" cy="594360"/>
          </a:xfrm>
          <a:prstGeom prst="line">
            <a:avLst/>
          </a:prstGeom>
          <a:ln w="19050">
            <a:solidFill>
              <a:srgbClr val="5561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29200" y="3611880"/>
            <a:ext cx="0" cy="548640"/>
          </a:xfrm>
          <a:prstGeom prst="line">
            <a:avLst/>
          </a:prstGeom>
          <a:ln w="19050">
            <a:solidFill>
              <a:srgbClr val="5561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29200" y="5029200"/>
            <a:ext cx="0" cy="457200"/>
          </a:xfrm>
          <a:prstGeom prst="line">
            <a:avLst/>
          </a:prstGeom>
          <a:ln w="19050">
            <a:solidFill>
              <a:srgbClr val="5561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863840" y="27889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6202B"/>
                </a:solidFill>
                <a:latin typeface="Aptos"/>
              </a:defRPr>
            </a:pPr>
            <a:r>
              <a:t>Remote layers update targets, not stabilising feedback.</a:t>
            </a:r>
          </a:p>
          <a:p>
            <a:pPr>
              <a:spcAft>
                <a:spcPts val="700"/>
              </a:spcAft>
              <a:defRPr sz="1600">
                <a:solidFill>
                  <a:srgbClr val="16202B"/>
                </a:solidFill>
                <a:latin typeface="Aptos"/>
              </a:defRPr>
            </a:pPr>
            <a:r>
              <a:t>Command loss or conflict is handled before it can become persistent motion.</a:t>
            </a:r>
          </a:p>
          <a:p>
            <a:pPr>
              <a:spcAft>
                <a:spcPts val="700"/>
              </a:spcAft>
              <a:defRPr sz="1600">
                <a:solidFill>
                  <a:srgbClr val="16202B"/>
                </a:solidFill>
                <a:latin typeface="Aptos"/>
              </a:defRPr>
            </a:pPr>
            <a:r>
              <a:t>This boundary is tested by E5, E6, E8, E10, E11 and O3-S.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6446520"/>
            <a:ext cx="1600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5616E"/>
                </a:solidFill>
                <a:latin typeface="Aptos"/>
              </a:rPr>
              <a:t>B-BOT Final Presentation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202B"/>
                </a:solidFill>
                <a:latin typeface="Aptos"/>
              </a:rPr>
              <a:t>Hardware and Firmware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5616E"/>
                </a:solidFill>
                <a:latin typeface="Aptos"/>
              </a:rPr>
              <a:t>A lightweight embedded stack built around ESP32, IMU feedback and CAN motor control.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6576"/>
          </a:xfrm>
          <a:prstGeom prst="rect">
            <a:avLst/>
          </a:prstGeom>
          <a:solidFill>
            <a:srgbClr val="008282"/>
          </a:solidFill>
          <a:ln>
            <a:solidFill>
              <a:srgbClr val="0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CB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3848"/>
            <a:ext cx="4754880" cy="393606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417320"/>
            <a:ext cx="4754880" cy="4389120"/>
          </a:xfrm>
          <a:prstGeom prst="rect">
            <a:avLst/>
          </a:prstGeom>
          <a:noFill/>
          <a:ln w="1270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806440" y="1463040"/>
            <a:ext cx="5303520" cy="416052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71031" y="1600200"/>
            <a:ext cx="49743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05BA7"/>
                </a:solidFill>
                <a:latin typeface="Aptos"/>
              </a:rPr>
              <a:t>Implementation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71031" y="1984248"/>
            <a:ext cx="4983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Custom ESP32 controller PCB and wheel-legged platform.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MPU6050 attitude feedback and CAN-connected motors.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FreeRTOS tasks for CAN, IMU, motor output, balance, BLE, UART and WiFi.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Public software evidence snapshot: Realsbt/Y3-PROJECT.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46520"/>
            <a:ext cx="1600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5616E"/>
                </a:solidFill>
                <a:latin typeface="Aptos"/>
              </a:rPr>
              <a:t>B-BOT Final Presentation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202B"/>
                </a:solidFill>
                <a:latin typeface="Aptos"/>
              </a:rPr>
              <a:t>Balance Control Hierarchy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5616E"/>
                </a:solidFill>
                <a:latin typeface="Aptos"/>
              </a:rPr>
              <a:t>LQR handles coupled sagittal balance; PID and VMC handle local regulation and leg torque mapping.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6576"/>
          </a:xfrm>
          <a:prstGeom prst="rect">
            <a:avLst/>
          </a:prstGeom>
          <a:solidFill>
            <a:srgbClr val="008282"/>
          </a:solidFill>
          <a:ln>
            <a:solidFill>
              <a:srgbClr val="0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14884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65960"/>
            <a:ext cx="18196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05BA7"/>
                </a:solidFill>
                <a:latin typeface="Aptos"/>
              </a:rPr>
              <a:t>State Estimate</a:t>
            </a:r>
            <a:br/>
            <a:r>
              <a:t>pitch, pitch rate,</a:t>
            </a:r>
            <a:br/>
            <a:r>
              <a:t>wheel speed, leg length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359152"/>
            <a:ext cx="1828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6202B"/>
                </a:solidFill>
                <a:latin typeface="Aptos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828800"/>
            <a:ext cx="214884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6432" y="1965960"/>
            <a:ext cx="18196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08282"/>
                </a:solidFill>
                <a:latin typeface="Aptos"/>
              </a:rPr>
              <a:t>Gain-Scheduled LQR</a:t>
            </a:r>
            <a:br/>
            <a:r>
              <a:t>sagittal balance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6432" y="2359152"/>
            <a:ext cx="1828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6202B"/>
                </a:solidFill>
                <a:latin typeface="Aptos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1828800"/>
            <a:ext cx="214884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16752" y="1965960"/>
            <a:ext cx="18196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16F1F"/>
                </a:solidFill>
                <a:latin typeface="Aptos"/>
              </a:rPr>
              <a:t>PID Loops</a:t>
            </a:r>
            <a:br/>
            <a:r>
              <a:t>yaw, roll, leg length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6752" y="2359152"/>
            <a:ext cx="1828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6202B"/>
                </a:solidFill>
                <a:latin typeface="Aptos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1828800"/>
            <a:ext cx="214884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77072" y="1965960"/>
            <a:ext cx="18196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3F8552"/>
                </a:solidFill>
                <a:latin typeface="Aptos"/>
              </a:rPr>
              <a:t>VMC Mapping</a:t>
            </a:r>
            <a:br/>
            <a:r>
              <a:t>virtual leg forces</a:t>
            </a:r>
            <a:br/>
            <a:r>
              <a:t>to joint torques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7072" y="2359152"/>
            <a:ext cx="1828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6202B"/>
                </a:solidFill>
                <a:latin typeface="Aptos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4343400"/>
            <a:ext cx="214884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6592" y="4480560"/>
            <a:ext cx="18196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05BA7"/>
                </a:solidFill>
                <a:latin typeface="Aptos"/>
              </a:rPr>
              <a:t>Motor Commands</a:t>
            </a:r>
            <a:br/>
            <a:r>
              <a:t>wheels + joints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6592" y="4873752"/>
            <a:ext cx="1828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6202B"/>
                </a:solidFill>
                <a:latin typeface="Apto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80360" y="2423160"/>
            <a:ext cx="411480" cy="0"/>
          </a:xfrm>
          <a:prstGeom prst="line">
            <a:avLst/>
          </a:prstGeom>
          <a:ln w="19050">
            <a:solidFill>
              <a:srgbClr val="5561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440680" y="2423160"/>
            <a:ext cx="411480" cy="0"/>
          </a:xfrm>
          <a:prstGeom prst="line">
            <a:avLst/>
          </a:prstGeom>
          <a:ln w="19050">
            <a:solidFill>
              <a:srgbClr val="5561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01000" y="2423160"/>
            <a:ext cx="411480" cy="0"/>
          </a:xfrm>
          <a:prstGeom prst="line">
            <a:avLst/>
          </a:prstGeom>
          <a:ln w="19050">
            <a:solidFill>
              <a:srgbClr val="5561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5623560" y="3017520"/>
            <a:ext cx="3840480" cy="1325880"/>
          </a:xfrm>
          <a:prstGeom prst="line">
            <a:avLst/>
          </a:prstGeom>
          <a:ln w="19050">
            <a:solidFill>
              <a:srgbClr val="5561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68680" y="4892040"/>
            <a:ext cx="3931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6202B"/>
                </a:solidFill>
                <a:latin typeface="Aptos"/>
              </a:defRPr>
            </a:pPr>
            <a:r>
              <a:t>Chosen for ESP32 feasibility and interpretable control structure.</a:t>
            </a:r>
          </a:p>
          <a:p>
            <a:pPr>
              <a:spcAft>
                <a:spcPts val="700"/>
              </a:spcAft>
              <a:defRPr sz="1500">
                <a:solidFill>
                  <a:srgbClr val="16202B"/>
                </a:solidFill>
                <a:latin typeface="Aptos"/>
              </a:defRPr>
            </a:pPr>
            <a:r>
              <a:t>E3 and E9 test whether leg-length-dependent behaviour matters.</a:t>
            </a:r>
          </a:p>
          <a:p>
            <a:pPr>
              <a:spcAft>
                <a:spcPts val="700"/>
              </a:spcAft>
              <a:defRPr sz="1500">
                <a:solidFill>
                  <a:srgbClr val="16202B"/>
                </a:solidFill>
                <a:latin typeface="Aptos"/>
              </a:defRPr>
            </a:pPr>
            <a:r>
              <a:t>Ablation is used to justify complexity rather than just describe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6446520"/>
            <a:ext cx="1600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5616E"/>
                </a:solidFill>
                <a:latin typeface="Aptos"/>
              </a:rPr>
              <a:t>B-BOT Final Presentation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202B"/>
                </a:solidFill>
                <a:latin typeface="Aptos"/>
              </a:rPr>
              <a:t>Command and Safety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5616E"/>
                </a:solidFill>
                <a:latin typeface="Aptos"/>
              </a:rPr>
              <a:t>Multiple command sources are allowed, but persistent unsafe motion is not.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6576"/>
          </a:xfrm>
          <a:prstGeom prst="rect">
            <a:avLst/>
          </a:prstGeom>
          <a:solidFill>
            <a:srgbClr val="008282"/>
          </a:solidFill>
          <a:ln>
            <a:solidFill>
              <a:srgbClr val="0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224028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554480"/>
            <a:ext cx="19110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16F1F"/>
                </a:solidFill>
                <a:latin typeface="Aptos"/>
              </a:rPr>
              <a:t>Command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38528"/>
            <a:ext cx="192024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Xbox BLE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UART queue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WiFi TCP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ROS 2 vision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417320"/>
            <a:ext cx="246888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1554480"/>
            <a:ext cx="21396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05BA7"/>
                </a:solidFill>
                <a:latin typeface="Aptos"/>
              </a:rPr>
              <a:t>Parser + 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3592" y="1938528"/>
            <a:ext cx="214884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Shared command grammar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Queue start/pause/stop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Direct DRIVE/YAWRATE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417320"/>
            <a:ext cx="23317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554480"/>
            <a:ext cx="20025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08282"/>
                </a:solidFill>
                <a:latin typeface="Aptos"/>
              </a:rPr>
              <a:t>Safety Gates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1938528"/>
            <a:ext cx="2011679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Watchdogs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BLE disable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dry_run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stunt_armed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417320"/>
            <a:ext cx="201168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00032" y="1554480"/>
            <a:ext cx="16824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3F8552"/>
                </a:solidFill>
                <a:latin typeface="Aptos"/>
              </a:rPr>
              <a:t>Robot Targets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00032" y="1938528"/>
            <a:ext cx="169164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speed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yaw rate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leg action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stop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26080" y="2103120"/>
            <a:ext cx="502920" cy="0"/>
          </a:xfrm>
          <a:prstGeom prst="line">
            <a:avLst/>
          </a:prstGeom>
          <a:ln w="19050">
            <a:solidFill>
              <a:srgbClr val="5561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897880" y="2103120"/>
            <a:ext cx="502920" cy="0"/>
          </a:xfrm>
          <a:prstGeom prst="line">
            <a:avLst/>
          </a:prstGeom>
          <a:ln w="19050">
            <a:solidFill>
              <a:srgbClr val="5561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732520" y="2103120"/>
            <a:ext cx="502920" cy="0"/>
          </a:xfrm>
          <a:prstGeom prst="line">
            <a:avLst/>
          </a:prstGeom>
          <a:ln w="19050">
            <a:solidFill>
              <a:srgbClr val="5561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14400" y="370332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6202B"/>
                </a:solidFill>
                <a:latin typeface="Aptos"/>
              </a:defRPr>
            </a:pPr>
            <a:r>
              <a:t>Direct commands expire if not refreshed.</a:t>
            </a:r>
          </a:p>
          <a:p>
            <a:pPr>
              <a:spcAft>
                <a:spcPts val="700"/>
              </a:spcAft>
              <a:defRPr sz="1800">
                <a:solidFill>
                  <a:srgbClr val="16202B"/>
                </a:solidFill>
                <a:latin typeface="Aptos"/>
              </a:defRPr>
            </a:pPr>
            <a:r>
              <a:t>Queue execution suppresses conflicting direct drive input.</a:t>
            </a:r>
          </a:p>
          <a:p>
            <a:pPr>
              <a:spcAft>
                <a:spcPts val="700"/>
              </a:spcAft>
              <a:defRPr sz="1800">
                <a:solidFill>
                  <a:srgbClr val="16202B"/>
                </a:solidFill>
                <a:latin typeface="Aptos"/>
              </a:defRPr>
            </a:pPr>
            <a:r>
              <a:t>Vision can be previewed in dry-run before real transmission.</a:t>
            </a:r>
          </a:p>
          <a:p>
            <a:pPr>
              <a:spcAft>
                <a:spcPts val="700"/>
              </a:spcAft>
              <a:defRPr sz="1800">
                <a:solidFill>
                  <a:srgbClr val="16202B"/>
                </a:solidFill>
                <a:latin typeface="Aptos"/>
              </a:defRPr>
            </a:pPr>
            <a:r>
              <a:t>O3-S verifies BLE/PC and queue/direct-command arbitration cases.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0" y="6446520"/>
            <a:ext cx="1600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5616E"/>
                </a:solidFill>
                <a:latin typeface="Aptos"/>
              </a:rPr>
              <a:t>B-BOT Final Presentation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202B"/>
                </a:solidFill>
                <a:latin typeface="Aptos"/>
              </a:rPr>
              <a:t>Evaluation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5616E"/>
                </a:solidFill>
                <a:latin typeface="Aptos"/>
              </a:rPr>
              <a:t>Eleven measured experiments plus O3 arbitration supplement.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6576"/>
          </a:xfrm>
          <a:prstGeom prst="rect">
            <a:avLst/>
          </a:prstGeom>
          <a:solidFill>
            <a:srgbClr val="008282"/>
          </a:solidFill>
          <a:ln>
            <a:solidFill>
              <a:srgbClr val="0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463040"/>
            <a:ext cx="33832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600200"/>
            <a:ext cx="30540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05BA7"/>
                </a:solidFill>
                <a:latin typeface="Aptos"/>
              </a:rPr>
              <a:t>O1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84248"/>
            <a:ext cx="306324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E1 static balance: 0.291 deg pitch RMS.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E2 recovery: 9/10 forward, 10/10 backward.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E8 loop timing: mean 3.9998 ms, median 4.000 ms.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E9 controller ablation: FULL vs reduced variants.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600200"/>
            <a:ext cx="30540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08282"/>
                </a:solidFill>
                <a:latin typeface="Aptos"/>
              </a:rPr>
              <a:t>O2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1984248"/>
            <a:ext cx="306324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E5 TCP ACK median 37.41 ms.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E7 camera bring-up.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E10 live gesture matrix and retained failures.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E11 bridge ACK median 66.13 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463040"/>
            <a:ext cx="33832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600200"/>
            <a:ext cx="30540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16F1F"/>
                </a:solidFill>
                <a:latin typeface="Aptos"/>
              </a:rPr>
              <a:t>O3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1984248"/>
            <a:ext cx="306324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E6 watchdog and disconnect fault injection.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dry_run and stunt gate behaviour.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O3-S: 5/5 BLE gate and 5/5 queue/direct suppression.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Not claimed as exhaustive over every race condition.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46520"/>
            <a:ext cx="1600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5616E"/>
                </a:solidFill>
                <a:latin typeface="Aptos"/>
              </a:rPr>
              <a:t>B-BOT Final Presentation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202B"/>
                </a:solidFill>
                <a:latin typeface="Aptos"/>
              </a:rPr>
              <a:t>O1 Results: Static Balance and Recovery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5616E"/>
                </a:solidFill>
                <a:latin typeface="Aptos"/>
              </a:rPr>
              <a:t>Physical results support usable balance while exposing limits.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6576"/>
          </a:xfrm>
          <a:prstGeom prst="rect">
            <a:avLst/>
          </a:prstGeom>
          <a:solidFill>
            <a:srgbClr val="008282"/>
          </a:solidFill>
          <a:ln>
            <a:solidFill>
              <a:srgbClr val="0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1_static_balance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874519"/>
            <a:ext cx="5120640" cy="25603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" y="1417320"/>
            <a:ext cx="5120640" cy="3474720"/>
          </a:xfrm>
          <a:prstGeom prst="rect">
            <a:avLst/>
          </a:prstGeom>
          <a:noFill/>
          <a:ln w="1270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2_disturbance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522827"/>
            <a:ext cx="5303520" cy="326370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80760" y="1417320"/>
            <a:ext cx="5303520" cy="3474720"/>
          </a:xfrm>
          <a:prstGeom prst="rect">
            <a:avLst/>
          </a:prstGeom>
          <a:noFill/>
          <a:ln w="1270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120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6202B"/>
                </a:solidFill>
                <a:latin typeface="Aptos"/>
              </a:defRPr>
            </a:pPr>
            <a:r>
              <a:t>Static balance: 0.291 deg pitch RMS over three 60 s trials.</a:t>
            </a:r>
          </a:p>
          <a:p>
            <a:pPr>
              <a:spcAft>
                <a:spcPts val="700"/>
              </a:spcAft>
              <a:defRPr sz="1500">
                <a:solidFill>
                  <a:srgbClr val="16202B"/>
                </a:solidFill>
                <a:latin typeface="Aptos"/>
              </a:defRPr>
            </a:pPr>
            <a:r>
              <a:t>Impulse recovery: 9/10 forward and 10/10 backward trials.</a:t>
            </a:r>
          </a:p>
          <a:p>
            <a:pPr>
              <a:spcAft>
                <a:spcPts val="700"/>
              </a:spcAft>
              <a:defRPr sz="1500">
                <a:solidFill>
                  <a:srgbClr val="16202B"/>
                </a:solidFill>
                <a:latin typeface="Aptos"/>
              </a:defRPr>
            </a:pPr>
            <a:r>
              <a:t>The failed/protected forward case is retained as evidence of a real tuning/saturation limit.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46520"/>
            <a:ext cx="1600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5616E"/>
                </a:solidFill>
                <a:latin typeface="Aptos"/>
              </a:rPr>
              <a:t>B-BOT Final Presentation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202B"/>
                </a:solidFill>
                <a:latin typeface="Aptos"/>
              </a:rPr>
              <a:t>O1 Timing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5616E"/>
                </a:solidFill>
                <a:latin typeface="Aptos"/>
              </a:rPr>
              <a:t>The local loop is centred on 4 ms, but timing outliers are real.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6576"/>
          </a:xfrm>
          <a:prstGeom prst="rect">
            <a:avLst/>
          </a:prstGeom>
          <a:solidFill>
            <a:srgbClr val="008282"/>
          </a:solidFill>
          <a:ln>
            <a:solidFill>
              <a:srgbClr val="0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8_loop_jitter_15000_2026-04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1325880"/>
            <a:ext cx="5791200" cy="4343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325880"/>
            <a:ext cx="5852160" cy="4343400"/>
          </a:xfrm>
          <a:prstGeom prst="rect">
            <a:avLst/>
          </a:prstGeom>
          <a:noFill/>
          <a:ln w="1270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03720" y="1600200"/>
            <a:ext cx="40233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68312" y="1737360"/>
            <a:ext cx="369417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08282"/>
                </a:solidFill>
                <a:latin typeface="Aptos"/>
              </a:rPr>
              <a:t>Measured E8 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68312" y="2121408"/>
            <a:ext cx="370332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15,000 samples.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Mean period: 3.9998 ms.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Median period: 4.000 ms.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p95: 4.300 ms.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Maximum observed period: 53.365 ms.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Conclusion: WiFi/vision must remain outside the stabilising loop.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46520"/>
            <a:ext cx="1600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5616E"/>
                </a:solidFill>
                <a:latin typeface="Aptos"/>
              </a:rPr>
              <a:t>B-BOT Final Presentation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202B"/>
                </a:solidFill>
                <a:latin typeface="Aptos"/>
              </a:rPr>
              <a:t>O1 Baseline: Controller 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5616E"/>
                </a:solidFill>
                <a:latin typeface="Aptos"/>
              </a:rPr>
              <a:t>E9 tests whether added control complexity is justified.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6576"/>
          </a:xfrm>
          <a:prstGeom prst="rect">
            <a:avLst/>
          </a:prstGeom>
          <a:solidFill>
            <a:srgbClr val="008282"/>
          </a:solidFill>
          <a:ln>
            <a:solidFill>
              <a:srgbClr val="0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9_controller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83191"/>
            <a:ext cx="5852160" cy="322877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234440"/>
            <a:ext cx="5852160" cy="4526280"/>
          </a:xfrm>
          <a:prstGeom prst="rect">
            <a:avLst/>
          </a:prstGeom>
          <a:noFill/>
          <a:ln w="1270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0" y="1463040"/>
            <a:ext cx="4343400" cy="388620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22592" y="1600200"/>
            <a:ext cx="4014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05BA7"/>
                </a:solidFill>
                <a:latin typeface="Aptos"/>
              </a:rPr>
              <a:t>FULL vs FIXED_LQR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22592" y="1984248"/>
            <a:ext cx="4023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FULL: 10/10 recovered.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FIXED_LQR: 9/10 recovered, one protected/failed trial.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Response metric: 1.049 s to 0.826 s, 21.3% reduction.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Peak pitch: 9.85 deg to 8.09 deg, 17.9% reduction.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Interpretation: engineering ablation evidence, not proof of global optimality.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46520"/>
            <a:ext cx="1600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5616E"/>
                </a:solidFill>
                <a:latin typeface="Aptos"/>
              </a:rPr>
              <a:t>B-BOT Final Presentation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202B"/>
                </a:solidFill>
                <a:latin typeface="Aptos"/>
              </a:rPr>
              <a:t>O2 Results: WiFi and Vision Teleoperation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5616E"/>
                </a:solidFill>
                <a:latin typeface="Aptos"/>
              </a:rPr>
              <a:t>Communication and vision are responsive enough for supervisory commands.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6576"/>
          </a:xfrm>
          <a:prstGeom prst="rect">
            <a:avLst/>
          </a:prstGeom>
          <a:solidFill>
            <a:srgbClr val="008282"/>
          </a:solidFill>
          <a:ln>
            <a:solidFill>
              <a:srgbClr val="0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10_vision_confusion_live_2026-04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342526"/>
            <a:ext cx="5212080" cy="199006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" y="1325880"/>
            <a:ext cx="5212080" cy="4023360"/>
          </a:xfrm>
          <a:prstGeom prst="rect">
            <a:avLst/>
          </a:prstGeom>
          <a:noFill/>
          <a:ln w="1270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11_vision_bridge_ack_latency_2026-04-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81390"/>
            <a:ext cx="5166360" cy="27123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63640" y="1325880"/>
            <a:ext cx="5166360" cy="4023360"/>
          </a:xfrm>
          <a:prstGeom prst="rect">
            <a:avLst/>
          </a:prstGeom>
          <a:noFill/>
          <a:ln w="1270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TCP command-entry ACK: median 37.41 ms, p95 88.31 ms across 300 samples.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Vision live matrix: clean 6/6 command classes; 85.3% selected-frame label accuracy.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Vision bridge-to-ESP32 ACK: median 66.13 ms across 71 safe commands.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46520"/>
            <a:ext cx="1600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5616E"/>
                </a:solidFill>
                <a:latin typeface="Aptos"/>
              </a:rPr>
              <a:t>B-BOT Final Presentation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202B"/>
                </a:solidFill>
                <a:latin typeface="Aptos"/>
              </a:rPr>
              <a:t>O3 Results: Safety and Arbitration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5616E"/>
                </a:solidFill>
                <a:latin typeface="Aptos"/>
              </a:rPr>
              <a:t>Safety behaviour is measured on the main command paths.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6576"/>
          </a:xfrm>
          <a:prstGeom prst="rect">
            <a:avLst/>
          </a:prstGeom>
          <a:solidFill>
            <a:srgbClr val="008282"/>
          </a:solidFill>
          <a:ln>
            <a:solidFill>
              <a:srgbClr val="0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6_watchdog_fault_in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57400"/>
            <a:ext cx="5669280" cy="2926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" y="1325880"/>
            <a:ext cx="5669280" cy="4389120"/>
          </a:xfrm>
          <a:prstGeom prst="rect">
            <a:avLst/>
          </a:prstGeom>
          <a:noFill/>
          <a:ln w="1270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20840" y="1508760"/>
            <a:ext cx="438912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85431" y="1645919"/>
            <a:ext cx="405993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16F1F"/>
                </a:solidFill>
                <a:latin typeface="Aptos"/>
              </a:rPr>
              <a:t>Measured Safety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5431" y="2029967"/>
            <a:ext cx="406908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Direct command watchdog cleared commands in 10/10 trials.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TCP socket close detected in 10/10 trials.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TCP idle produced full-stop in 10/10 trials.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O3-S: BLE/PC gate 5/5 and queue/direct suppression 5/5.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Scope is tested main paths, not every possible race condition.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46520"/>
            <a:ext cx="1600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5616E"/>
                </a:solidFill>
                <a:latin typeface="Aptos"/>
              </a:rPr>
              <a:t>B-BOT Final Presentation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202B"/>
                </a:solidFill>
                <a:latin typeface="Aptos"/>
              </a:rPr>
              <a:t>Live Demonstration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5616E"/>
                </a:solidFill>
                <a:latin typeface="Aptos"/>
              </a:rPr>
              <a:t>Keep the demo conservative: show architecture, not maximum aggression.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6576"/>
          </a:xfrm>
          <a:prstGeom prst="rect">
            <a:avLst/>
          </a:prstGeom>
          <a:solidFill>
            <a:srgbClr val="008282"/>
          </a:solidFill>
          <a:ln>
            <a:solidFill>
              <a:srgbClr val="0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32004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287121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05BA7"/>
                </a:solidFill>
                <a:latin typeface="Aptos"/>
              </a:rPr>
              <a:t>Demo A: Local Balance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938528"/>
            <a:ext cx="2880360" cy="379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Robot already powered and calibrated.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Show stable balance briefly.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Small Xbox or keyboard command.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Return to zero motion.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417320"/>
            <a:ext cx="32004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1554480"/>
            <a:ext cx="287121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08282"/>
                </a:solidFill>
                <a:latin typeface="Aptos"/>
              </a:rPr>
              <a:t>Demo B: Supervisory 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5152" y="1938528"/>
            <a:ext cx="2880360" cy="379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Show terminal command path.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Explain DRIVE/YAWRATE as targets.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Show watchdog or stop behaviour conservatively.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417320"/>
            <a:ext cx="32004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94192" y="1554480"/>
            <a:ext cx="287121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16F1F"/>
                </a:solidFill>
                <a:latin typeface="Aptos"/>
              </a:rPr>
              <a:t>Demo C: Vision Dry-Run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1938528"/>
            <a:ext cx="2880360" cy="379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Run vision bridge in dry_run=true.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Show gesture classified into command.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No real robot motion unless already rehearsed.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46520"/>
            <a:ext cx="1600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5616E"/>
                </a:solidFill>
                <a:latin typeface="Aptos"/>
              </a:rPr>
              <a:t>B-BOT Final Presentation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202B"/>
                </a:solidFill>
                <a:latin typeface="Aptos"/>
              </a:rPr>
              <a:t>Limitations and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5616E"/>
                </a:solidFill>
                <a:latin typeface="Aptos"/>
              </a:rPr>
              <a:t>The report is strongest when the boundaries are explicit.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6576"/>
          </a:xfrm>
          <a:prstGeom prst="rect">
            <a:avLst/>
          </a:prstGeom>
          <a:solidFill>
            <a:srgbClr val="008282"/>
          </a:solidFill>
          <a:ln>
            <a:solidFill>
              <a:srgbClr val="0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493776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00200"/>
            <a:ext cx="460857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94038"/>
                </a:solidFill>
                <a:latin typeface="Aptos"/>
              </a:rPr>
              <a:t>Current 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984248"/>
            <a:ext cx="4617720" cy="3611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Manual gain tuning and manually applied disturbances.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Small-sample physical trials.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IMU vibration, mechanical compliance and actuator saturation.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WiFi/vision latency prevents use as balance feedback.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463040"/>
            <a:ext cx="493776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600200"/>
            <a:ext cx="460857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3F8552"/>
                </a:solidFill>
                <a:latin typeface="Aptos"/>
              </a:rPr>
              <a:t>Next Technical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1984248"/>
            <a:ext cx="4617720" cy="3611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Better logging, event markers and parameter versioning.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Repeatable gain sweeps and larger E2/E9 datasets.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Improved state estimation and vibration isolation.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Onboard companion computer for ROS 2 vision, while ESP32 still owns balance.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46520"/>
            <a:ext cx="1600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5616E"/>
                </a:solidFill>
                <a:latin typeface="Aptos"/>
              </a:rPr>
              <a:t>B-BOT Final Presentation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202B"/>
                </a:solidFill>
                <a:latin typeface="Aptos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5616E"/>
                </a:solidFill>
                <a:latin typeface="Aptos"/>
              </a:rPr>
              <a:t>B-BOT demonstrates a practical embedded balance architecture with safe supervisory teleoperation.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6576"/>
          </a:xfrm>
          <a:prstGeom prst="rect">
            <a:avLst/>
          </a:prstGeom>
          <a:solidFill>
            <a:srgbClr val="008282"/>
          </a:solidFill>
          <a:ln>
            <a:solidFill>
              <a:srgbClr val="0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1033272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554480"/>
            <a:ext cx="100035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08282"/>
                </a:solidFill>
                <a:latin typeface="Aptos"/>
              </a:rPr>
              <a:t>Main Contribution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1938528"/>
            <a:ext cx="10012680" cy="3611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ESP32 owns the balance-critical feedback loop.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LQR/PID/VMC control is implemented and physically evaluated.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WiFi, Xbox and ROS 2 vision are integrated as supervisory command sources.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Watchdogs, dry-run, stunt gates and command arbitration are measured.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The final system is not perfect, but its evidence chain is objective and traceable.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80644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05BA7"/>
                </a:solidFill>
                <a:latin typeface="Aptos"/>
              </a:rPr>
              <a:t>Thank you. I am happy to answer questions.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46520"/>
            <a:ext cx="1600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5616E"/>
                </a:solidFill>
                <a:latin typeface="Aptos"/>
              </a:rPr>
              <a:t>B-BOT Final Presentation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202B"/>
                </a:solidFill>
                <a:latin typeface="Aptos"/>
              </a:rPr>
              <a:t>Backup: Key Numbers for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5616E"/>
                </a:solidFill>
                <a:latin typeface="Aptos"/>
              </a:rPr>
              <a:t>Use this slide only if asked for evidence details.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828800" cy="36576"/>
          </a:xfrm>
          <a:prstGeom prst="rect">
            <a:avLst/>
          </a:prstGeom>
          <a:solidFill>
            <a:srgbClr val="008282"/>
          </a:solidFill>
          <a:ln>
            <a:solidFill>
              <a:srgbClr val="0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338328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30540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05BA7"/>
                </a:solidFill>
                <a:latin typeface="Aptos"/>
              </a:rPr>
              <a:t>Balance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938528"/>
            <a:ext cx="306324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E1 pitch RMS: 0.291 deg.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E2 recovery: 9/10 forward, 10/10 backward.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E8 mean/median: 3.9998 ms / 4.000 ms.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E8 max outlier: 53.365 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38328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554480"/>
            <a:ext cx="30540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08282"/>
                </a:solidFill>
                <a:latin typeface="Aptos"/>
              </a:rPr>
              <a:t>Control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1938528"/>
            <a:ext cx="306324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E9 FULL: 10/10.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E9 FIXED_LQR: 9/10.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Response metric: 21.3% lower.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Peak pitch: 17.9% lower.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17320"/>
            <a:ext cx="338328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1554480"/>
            <a:ext cx="30540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16F1F"/>
                </a:solidFill>
                <a:latin typeface="Aptos"/>
              </a:rPr>
              <a:t>Teleoperation + Safety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1312" y="1938528"/>
            <a:ext cx="306324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E5 TCP median/p95: 37.41 / 88.31 ms.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E11 ACK median: 66.13 ms.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E10 selected-frame accuracy: 85.3%.</a:t>
            </a:r>
          </a:p>
          <a:p>
            <a:pPr>
              <a:spcAft>
                <a:spcPts val="700"/>
              </a:spcAft>
              <a:defRPr sz="1300">
                <a:solidFill>
                  <a:srgbClr val="16202B"/>
                </a:solidFill>
                <a:latin typeface="Aptos"/>
              </a:defRPr>
            </a:pPr>
            <a:r>
              <a:t>E6 and O3-S main safety tests passed.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46520"/>
            <a:ext cx="1600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5616E"/>
                </a:solidFill>
                <a:latin typeface="Aptos"/>
              </a:rPr>
              <a:t>B-BOT Final Presentation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